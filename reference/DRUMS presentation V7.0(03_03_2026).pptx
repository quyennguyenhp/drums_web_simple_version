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7" r:id="rId5"/>
    <p:sldId id="26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Oswald" panose="020F0502020204030204" pitchFamily="2" charset="0"/>
      <p:regular r:id="rId13"/>
      <p:bold r:id="rId14"/>
    </p:embeddedFont>
    <p:embeddedFont>
      <p:font typeface="Poppins" panose="020B0502040204020203" pitchFamily="2" charset="0"/>
      <p:regular r:id="rId15"/>
      <p:bold r:id="rId16"/>
      <p:italic r:id="rId17"/>
      <p:boldItalic r:id="rId18"/>
    </p:embeddedFont>
    <p:embeddedFont>
      <p:font typeface="Poppins Medium" panose="020B0502040204020203" pitchFamily="2" charset="0"/>
      <p:regular r:id="rId19"/>
      <p:bold r:id="rId20"/>
      <p:italic r:id="rId21"/>
      <p:boldItalic r:id="rId22"/>
    </p:embeddedFont>
    <p:embeddedFont>
      <p:font typeface="Roboto" panose="020F0502020204030204" pitchFamily="2" charset="0"/>
      <p:regular r:id="rId23"/>
      <p:bold r:id="rId24"/>
      <p:italic r:id="rId25"/>
      <p:boldItalic r:id="rId26"/>
    </p:embeddedFont>
    <p:embeddedFont>
      <p:font typeface="Roboto Medium" panose="020F0502020204030204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F0P3fYZC4AFbdtnPU+Y1ezYyH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0B089E-8C93-41C6-864F-2D0AF624676E}">
  <a:tblStyle styleId="{B80B089E-8C93-41C6-864F-2D0AF62467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Good morning everyone, I am _______ from DSG’s IT department. today i will be presenting DRUMS t</a:t>
            </a:r>
            <a:r>
              <a:rPr lang="en-US" b="1">
                <a:solidFill>
                  <a:schemeClr val="dk1"/>
                </a:solidFill>
              </a:rPr>
              <a:t>he Daikai Remote Unified Monitoring System.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This platform represents Daikai’s vision of moving from traditional engine monitoring toward a </a:t>
            </a:r>
            <a:r>
              <a:rPr lang="en-US" b="1">
                <a:solidFill>
                  <a:schemeClr val="dk1"/>
                </a:solidFill>
              </a:rPr>
              <a:t>centralized and intelligent monitoring ecosystem</a:t>
            </a:r>
            <a:r>
              <a:rPr lang="en-US">
                <a:solidFill>
                  <a:schemeClr val="dk1"/>
                </a:solidFill>
              </a:rPr>
              <a:t> for vessels and power systems.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6decb946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What is DRUMS? </a:t>
            </a:r>
            <a:b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b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It is a data collection and monitoring system created with the purpose of tracking the performance of marine  engines.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collected data is analysed via machine learning and dashboards to provide meaningful insights such as detection of engine problems or anomalies. 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Additionally, DRUMS users are alerted of any issues, allowing for immediate action to prevent damage of the engine.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g3c6decb946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ce6210b70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should you use DRUMS? 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Traditional vessel engine monitoring relies on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manual checks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slow reports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are prone to human errors.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DRUMS fixes this by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collecting data continuously,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allowing remote monitoring and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near real-time visibility of engine health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 teams can predict issues, plan maintenance earlier, and reduce unexpected downtime.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Google Shape;170;g3cce6210b70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ccc9c2ef5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6" name="Google Shape;366;g3cccc9c2ef5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ccc9c2ef5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9" name="Google Shape;389;g3cccc9c2ef5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DRUMS System Overview: 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DRUMS collects engine data on the vessel from several onboard systems and sensors.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This data is gathered into the DRUMS Data Collector, which prepares it safely and efficiently.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Then, every 3 minutes, it sends a </a:t>
            </a:r>
            <a:r>
              <a:rPr lang="en-US" b="1">
                <a:solidFill>
                  <a:schemeClr val="dk1"/>
                </a:solidFill>
              </a:rPr>
              <a:t>small amount of data</a:t>
            </a:r>
            <a:r>
              <a:rPr lang="en-US">
                <a:solidFill>
                  <a:schemeClr val="dk1"/>
                </a:solidFill>
              </a:rPr>
              <a:t> to the remote monitoring server.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Because the data size is small, DRUMS can still send updates reliably even when the ship’s internet is weak or unstable.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4142c3e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g3b64142c3e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ccc9c2ef5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7" name="Google Shape;277;g3cccc9c2ef5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64142c3ec_1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DRUMS is already deployed across 15 vessels from: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Vitol from Singapore 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Emarat from UAE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Truongminh from vietnam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Jemla from indonesia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These real-world deployments validate the system’s stability and reliability.</a:t>
            </a:r>
            <a:endParaRPr/>
          </a:p>
        </p:txBody>
      </p:sp>
      <p:sp>
        <p:nvSpPr>
          <p:cNvPr id="291" name="Google Shape;291;g3b64142c3ec_1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ccc9c2ef5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8" name="Google Shape;318;g3cccc9c2ef5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jp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jpg"/><Relationship Id="rId4" Type="http://schemas.openxmlformats.org/officeDocument/2006/relationships/image" Target="../media/image3.jpg"/><Relationship Id="rId9" Type="http://schemas.openxmlformats.org/officeDocument/2006/relationships/image" Target="../media/image26.png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jp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09695" y="101599"/>
            <a:ext cx="6896819" cy="6696588"/>
          </a:xfrm>
          <a:custGeom>
            <a:avLst/>
            <a:gdLst/>
            <a:ahLst/>
            <a:cxnLst/>
            <a:rect l="l" t="t" r="r" b="b"/>
            <a:pathLst>
              <a:path w="6882305" h="6738377" extrusionOk="0">
                <a:moveTo>
                  <a:pt x="0" y="0"/>
                </a:moveTo>
                <a:lnTo>
                  <a:pt x="3441153" y="0"/>
                </a:lnTo>
                <a:lnTo>
                  <a:pt x="3478398" y="0"/>
                </a:lnTo>
                <a:lnTo>
                  <a:pt x="3478398" y="920"/>
                </a:lnTo>
                <a:lnTo>
                  <a:pt x="3618234" y="4374"/>
                </a:lnTo>
                <a:cubicBezTo>
                  <a:pt x="5379616" y="91593"/>
                  <a:pt x="6791575" y="1472583"/>
                  <a:pt x="6878102" y="3193919"/>
                </a:cubicBezTo>
                <a:lnTo>
                  <a:pt x="6881193" y="3317167"/>
                </a:lnTo>
                <a:lnTo>
                  <a:pt x="6882305" y="3317167"/>
                </a:lnTo>
                <a:lnTo>
                  <a:pt x="6882305" y="3361531"/>
                </a:lnTo>
                <a:lnTo>
                  <a:pt x="6882305" y="6738377"/>
                </a:lnTo>
                <a:lnTo>
                  <a:pt x="3337428" y="6738377"/>
                </a:lnTo>
                <a:lnTo>
                  <a:pt x="3337428" y="6720500"/>
                </a:lnTo>
                <a:lnTo>
                  <a:pt x="3264072" y="6718688"/>
                </a:lnTo>
                <a:cubicBezTo>
                  <a:pt x="1445870" y="6628656"/>
                  <a:pt x="1" y="5160037"/>
                  <a:pt x="1" y="3361531"/>
                </a:cubicBezTo>
                <a:lnTo>
                  <a:pt x="955" y="3324690"/>
                </a:lnTo>
                <a:lnTo>
                  <a:pt x="0" y="3324690"/>
                </a:lnTo>
                <a:close/>
              </a:path>
            </a:pathLst>
          </a:custGeom>
          <a:solidFill>
            <a:srgbClr val="2E39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7600" t="28406" r="7599"/>
          <a:stretch/>
        </p:blipFill>
        <p:spPr>
          <a:xfrm rot="10800000">
            <a:off x="0" y="0"/>
            <a:ext cx="1218590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descr="A close-up of a sign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543" y="2923829"/>
            <a:ext cx="8822851" cy="218365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8433" y="6381684"/>
            <a:ext cx="386334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Version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38425" y="3767150"/>
            <a:ext cx="5116500" cy="26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3rd March 2026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566116" y="6243318"/>
            <a:ext cx="165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rPr>
              <a:t>Daikai Engineering Pte Ltd</a:t>
            </a:r>
            <a:endParaRPr sz="13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47975" y="254225"/>
            <a:ext cx="4761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DATA COLLECTION SYSTEM</a:t>
            </a:r>
            <a:endParaRPr sz="50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c6decb9466_0_10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0" t="38171" r="21522" b="4659"/>
          <a:stretch/>
        </p:blipFill>
        <p:spPr>
          <a:xfrm rot="10800000">
            <a:off x="-5" y="9876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c6decb9466_0_10"/>
          <p:cNvSpPr/>
          <p:nvPr/>
        </p:nvSpPr>
        <p:spPr>
          <a:xfrm>
            <a:off x="0" y="24707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6decb9466_0_10"/>
          <p:cNvSpPr/>
          <p:nvPr/>
        </p:nvSpPr>
        <p:spPr>
          <a:xfrm rot="10800000">
            <a:off x="-77916" y="24702"/>
            <a:ext cx="5854800" cy="68796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6decb9466_0_10"/>
          <p:cNvSpPr/>
          <p:nvPr/>
        </p:nvSpPr>
        <p:spPr>
          <a:xfrm>
            <a:off x="9580406" y="-1075399"/>
            <a:ext cx="6782700" cy="9142500"/>
          </a:xfrm>
          <a:prstGeom prst="parallelogram">
            <a:avLst>
              <a:gd name="adj" fmla="val 43326"/>
            </a:avLst>
          </a:prstGeom>
          <a:blipFill rotWithShape="1">
            <a:blip r:embed="rId4">
              <a:alphaModFix/>
            </a:blip>
            <a:stretch>
              <a:fillRect l="-7758" t="-4997" r="-8626" b="-6985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6decb9466_0_10"/>
          <p:cNvSpPr/>
          <p:nvPr/>
        </p:nvSpPr>
        <p:spPr>
          <a:xfrm>
            <a:off x="8165341" y="-106971"/>
            <a:ext cx="4059300" cy="11070000"/>
          </a:xfrm>
          <a:prstGeom prst="parallelogram">
            <a:avLst>
              <a:gd name="adj" fmla="val 88351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c6decb9466_0_10"/>
          <p:cNvSpPr/>
          <p:nvPr/>
        </p:nvSpPr>
        <p:spPr>
          <a:xfrm>
            <a:off x="12994593" y="-2218046"/>
            <a:ext cx="4215300" cy="11070000"/>
          </a:xfrm>
          <a:prstGeom prst="parallelogram">
            <a:avLst>
              <a:gd name="adj" fmla="val 87279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6decb9466_0_10"/>
          <p:cNvSpPr/>
          <p:nvPr/>
        </p:nvSpPr>
        <p:spPr>
          <a:xfrm>
            <a:off x="14046770" y="-1926071"/>
            <a:ext cx="4443600" cy="10155600"/>
          </a:xfrm>
          <a:prstGeom prst="parallelogram">
            <a:avLst>
              <a:gd name="adj" fmla="val 74729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6decb9466_0_10"/>
          <p:cNvSpPr/>
          <p:nvPr/>
        </p:nvSpPr>
        <p:spPr>
          <a:xfrm>
            <a:off x="8986323" y="-1968508"/>
            <a:ext cx="4443600" cy="10155600"/>
          </a:xfrm>
          <a:prstGeom prst="parallelogram">
            <a:avLst>
              <a:gd name="adj" fmla="val 74291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g3c6decb9466_0_10"/>
          <p:cNvGrpSpPr/>
          <p:nvPr/>
        </p:nvGrpSpPr>
        <p:grpSpPr>
          <a:xfrm>
            <a:off x="7086275" y="2080550"/>
            <a:ext cx="2390700" cy="2325179"/>
            <a:chOff x="7220775" y="1664675"/>
            <a:chExt cx="2390700" cy="2365150"/>
          </a:xfrm>
        </p:grpSpPr>
        <p:pic>
          <p:nvPicPr>
            <p:cNvPr id="158" name="Google Shape;158;g3c6decb9466_0_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42657" y="1664675"/>
              <a:ext cx="1717800" cy="17178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59" name="Google Shape;159;g3c6decb9466_0_10"/>
            <p:cNvSpPr txBox="1"/>
            <p:nvPr/>
          </p:nvSpPr>
          <p:spPr>
            <a:xfrm>
              <a:off x="7220775" y="3524925"/>
              <a:ext cx="23907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Actionable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Insights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" name="Google Shape;160;g3c6decb9466_0_10"/>
          <p:cNvSpPr txBox="1"/>
          <p:nvPr/>
        </p:nvSpPr>
        <p:spPr>
          <a:xfrm>
            <a:off x="498700" y="3858485"/>
            <a:ext cx="28083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Collection &amp; Monitoring 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c6decb9466_0_10"/>
          <p:cNvSpPr txBox="1"/>
          <p:nvPr/>
        </p:nvSpPr>
        <p:spPr>
          <a:xfrm>
            <a:off x="3680824" y="3900960"/>
            <a:ext cx="28083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Machine Learning &amp; Dashboards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2" name="Google Shape;162;g3c6decb9466_0_10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163" name="Google Shape;163;g3c6decb9466_0_10" descr="A close-up of a sign&#10;&#10;Description automatically generated with medium confidenc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g3c6decb9466_0_10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g3c6decb9466_0_10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WHAT IS DRUMS?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6" name="Google Shape;166;g3c6decb9466_0_10"/>
          <p:cNvPicPr preferRelativeResize="0"/>
          <p:nvPr/>
        </p:nvPicPr>
        <p:blipFill rotWithShape="1">
          <a:blip r:embed="rId7">
            <a:alphaModFix/>
          </a:blip>
          <a:srcRect l="13622" t="11380" r="12746" b="15580"/>
          <a:stretch/>
        </p:blipFill>
        <p:spPr>
          <a:xfrm>
            <a:off x="1022975" y="2080600"/>
            <a:ext cx="1757400" cy="1691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g3c6decb9466_0_10"/>
          <p:cNvPicPr preferRelativeResize="0"/>
          <p:nvPr/>
        </p:nvPicPr>
        <p:blipFill rotWithShape="1">
          <a:blip r:embed="rId8">
            <a:alphaModFix/>
          </a:blip>
          <a:srcRect l="14627" t="12441" r="13425" b="15689"/>
          <a:stretch/>
        </p:blipFill>
        <p:spPr>
          <a:xfrm>
            <a:off x="4208925" y="2080600"/>
            <a:ext cx="1757400" cy="1691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cce6210b70_2_35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1" t="38172" r="21523" b="4659"/>
          <a:stretch/>
        </p:blipFill>
        <p:spPr>
          <a:xfrm rot="10800000">
            <a:off x="-5" y="9876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cce6210b70_2_35"/>
          <p:cNvSpPr/>
          <p:nvPr/>
        </p:nvSpPr>
        <p:spPr>
          <a:xfrm>
            <a:off x="0" y="24707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cce6210b70_2_35"/>
          <p:cNvSpPr/>
          <p:nvPr/>
        </p:nvSpPr>
        <p:spPr>
          <a:xfrm rot="10800000">
            <a:off x="-77916" y="24702"/>
            <a:ext cx="5854800" cy="68796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cce6210b70_2_35"/>
          <p:cNvSpPr/>
          <p:nvPr/>
        </p:nvSpPr>
        <p:spPr>
          <a:xfrm>
            <a:off x="9580406" y="-1075399"/>
            <a:ext cx="6782700" cy="9142500"/>
          </a:xfrm>
          <a:prstGeom prst="parallelogram">
            <a:avLst>
              <a:gd name="adj" fmla="val 43326"/>
            </a:avLst>
          </a:prstGeom>
          <a:blipFill rotWithShape="1">
            <a:blip r:embed="rId4">
              <a:alphaModFix/>
            </a:blip>
            <a:stretch>
              <a:fillRect l="-7760" t="-5000" r="-8620" b="-698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cce6210b70_2_35"/>
          <p:cNvSpPr/>
          <p:nvPr/>
        </p:nvSpPr>
        <p:spPr>
          <a:xfrm>
            <a:off x="8165341" y="-106971"/>
            <a:ext cx="4059300" cy="11070000"/>
          </a:xfrm>
          <a:prstGeom prst="parallelogram">
            <a:avLst>
              <a:gd name="adj" fmla="val 88351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cce6210b70_2_35"/>
          <p:cNvSpPr/>
          <p:nvPr/>
        </p:nvSpPr>
        <p:spPr>
          <a:xfrm>
            <a:off x="12994593" y="-2218046"/>
            <a:ext cx="4215300" cy="11070000"/>
          </a:xfrm>
          <a:prstGeom prst="parallelogram">
            <a:avLst>
              <a:gd name="adj" fmla="val 87279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cce6210b70_2_35"/>
          <p:cNvSpPr/>
          <p:nvPr/>
        </p:nvSpPr>
        <p:spPr>
          <a:xfrm>
            <a:off x="14046770" y="-1926071"/>
            <a:ext cx="4443600" cy="10155600"/>
          </a:xfrm>
          <a:prstGeom prst="parallelogram">
            <a:avLst>
              <a:gd name="adj" fmla="val 74729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cce6210b70_2_35"/>
          <p:cNvSpPr/>
          <p:nvPr/>
        </p:nvSpPr>
        <p:spPr>
          <a:xfrm>
            <a:off x="8986323" y="-1968508"/>
            <a:ext cx="4443600" cy="10155600"/>
          </a:xfrm>
          <a:prstGeom prst="parallelogram">
            <a:avLst>
              <a:gd name="adj" fmla="val 74291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g3cce6210b70_2_35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181" name="Google Shape;181;g3cce6210b70_2_35" descr="A close-up of a sign&#10;&#10;Description automatically generated with medium confidenc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g3cce6210b70_2_35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g3cce6210b70_2_35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WHY DRUMS?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g3cce6210b70_2_35"/>
          <p:cNvSpPr txBox="1"/>
          <p:nvPr/>
        </p:nvSpPr>
        <p:spPr>
          <a:xfrm>
            <a:off x="387170" y="3798433"/>
            <a:ext cx="20394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Centralised</a:t>
            </a:r>
            <a:b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cce6210b70_2_35"/>
          <p:cNvSpPr txBox="1"/>
          <p:nvPr/>
        </p:nvSpPr>
        <p:spPr>
          <a:xfrm>
            <a:off x="2797970" y="3798433"/>
            <a:ext cx="20394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Remote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Monitoring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g3cce6210b70_2_35"/>
          <p:cNvSpPr txBox="1"/>
          <p:nvPr/>
        </p:nvSpPr>
        <p:spPr>
          <a:xfrm>
            <a:off x="5240745" y="3798433"/>
            <a:ext cx="20394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Smart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cce6210b70_2_35"/>
          <p:cNvSpPr txBox="1"/>
          <p:nvPr/>
        </p:nvSpPr>
        <p:spPr>
          <a:xfrm>
            <a:off x="7683520" y="3798433"/>
            <a:ext cx="20394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Efficient Decisions</a:t>
            </a:r>
            <a:endParaRPr sz="22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g3cce6210b70_2_35" title="slidessss_CentralisedData.png"/>
          <p:cNvPicPr preferRelativeResize="0"/>
          <p:nvPr/>
        </p:nvPicPr>
        <p:blipFill rotWithShape="1">
          <a:blip r:embed="rId6">
            <a:alphaModFix/>
          </a:blip>
          <a:srcRect l="12907" t="10908" r="12142" b="15340"/>
          <a:stretch/>
        </p:blipFill>
        <p:spPr>
          <a:xfrm>
            <a:off x="547975" y="2080625"/>
            <a:ext cx="1717800" cy="171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9" name="Google Shape;189;g3cce6210b70_2_35" title="slidessss_RemoteMonitoring.png"/>
          <p:cNvPicPr preferRelativeResize="0"/>
          <p:nvPr/>
        </p:nvPicPr>
        <p:blipFill rotWithShape="1">
          <a:blip r:embed="rId7">
            <a:alphaModFix/>
          </a:blip>
          <a:srcRect l="12667" t="9471" r="11661" b="16537"/>
          <a:stretch/>
        </p:blipFill>
        <p:spPr>
          <a:xfrm>
            <a:off x="2958775" y="2080625"/>
            <a:ext cx="1717800" cy="1717800"/>
          </a:xfrm>
          <a:prstGeom prst="ellipse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</p:pic>
      <p:pic>
        <p:nvPicPr>
          <p:cNvPr id="190" name="Google Shape;190;g3cce6210b70_2_35" title="slidessss_SmartAnalytics.png"/>
          <p:cNvPicPr preferRelativeResize="0"/>
          <p:nvPr/>
        </p:nvPicPr>
        <p:blipFill rotWithShape="1">
          <a:blip r:embed="rId8">
            <a:alphaModFix/>
          </a:blip>
          <a:srcRect l="12665" t="10185" r="11903" b="16063"/>
          <a:stretch/>
        </p:blipFill>
        <p:spPr>
          <a:xfrm>
            <a:off x="5396975" y="2080625"/>
            <a:ext cx="1717800" cy="1717800"/>
          </a:xfrm>
          <a:prstGeom prst="ellipse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</p:pic>
      <p:pic>
        <p:nvPicPr>
          <p:cNvPr id="191" name="Google Shape;191;g3cce6210b70_2_35"/>
          <p:cNvPicPr preferRelativeResize="0"/>
          <p:nvPr/>
        </p:nvPicPr>
        <p:blipFill rotWithShape="1">
          <a:blip r:embed="rId9">
            <a:alphaModFix/>
          </a:blip>
          <a:srcRect l="13555" t="10832" r="13409" b="16372"/>
          <a:stretch/>
        </p:blipFill>
        <p:spPr>
          <a:xfrm>
            <a:off x="7844325" y="2080575"/>
            <a:ext cx="1717800" cy="1717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cccc9c2ef5_0_433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1" t="38172" r="21523" b="4659"/>
          <a:stretch/>
        </p:blipFill>
        <p:spPr>
          <a:xfrm rot="10800000">
            <a:off x="-5" y="9876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cccc9c2ef5_0_433"/>
          <p:cNvSpPr/>
          <p:nvPr/>
        </p:nvSpPr>
        <p:spPr>
          <a:xfrm>
            <a:off x="0" y="24707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cccc9c2ef5_0_433"/>
          <p:cNvSpPr/>
          <p:nvPr/>
        </p:nvSpPr>
        <p:spPr>
          <a:xfrm rot="10800000">
            <a:off x="-77916" y="24702"/>
            <a:ext cx="5854800" cy="68796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cccc9c2ef5_0_433"/>
          <p:cNvSpPr/>
          <p:nvPr/>
        </p:nvSpPr>
        <p:spPr>
          <a:xfrm>
            <a:off x="12994593" y="-2218046"/>
            <a:ext cx="4215300" cy="11070000"/>
          </a:xfrm>
          <a:prstGeom prst="parallelogram">
            <a:avLst>
              <a:gd name="adj" fmla="val 87279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ccc9c2ef5_0_433"/>
          <p:cNvSpPr/>
          <p:nvPr/>
        </p:nvSpPr>
        <p:spPr>
          <a:xfrm>
            <a:off x="14046770" y="-1926071"/>
            <a:ext cx="4443600" cy="10155600"/>
          </a:xfrm>
          <a:prstGeom prst="parallelogram">
            <a:avLst>
              <a:gd name="adj" fmla="val 74729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g3cccc9c2ef5_0_433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374" name="Google Shape;374;g3cccc9c2ef5_0_433" descr="A close-up of a sign&#10;&#10;Description automatically generated with medium confiden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g3cccc9c2ef5_0_433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cccc9c2ef5_0_433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TECHNOLOGY ADVANTAGES &amp; LIMITATIONS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7" name="Google Shape;377;g3cccc9c2ef5_0_433"/>
          <p:cNvSpPr txBox="1"/>
          <p:nvPr/>
        </p:nvSpPr>
        <p:spPr>
          <a:xfrm>
            <a:off x="870925" y="5127302"/>
            <a:ext cx="98724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Char char="➔"/>
            </a:pPr>
            <a:r>
              <a:rPr lang="en-US" sz="26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Considerations </a:t>
            </a:r>
            <a:endParaRPr sz="26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914400" marR="0" lvl="0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Roboto Medium"/>
              <a:buChar char="-"/>
            </a:pPr>
            <a:r>
              <a:rPr lang="en-US" sz="2400" b="0" i="0" u="none" strike="noStrike" cap="none">
                <a:solidFill>
                  <a:srgbClr val="D9D9D9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Requires stable connectivity and initial deployment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g3cccc9c2ef5_0_433"/>
          <p:cNvGrpSpPr/>
          <p:nvPr/>
        </p:nvGrpSpPr>
        <p:grpSpPr>
          <a:xfrm>
            <a:off x="499065" y="1813421"/>
            <a:ext cx="10616098" cy="2676610"/>
            <a:chOff x="490940" y="1809658"/>
            <a:chExt cx="10616098" cy="2676610"/>
          </a:xfrm>
        </p:grpSpPr>
        <p:sp>
          <p:nvSpPr>
            <p:cNvPr id="379" name="Google Shape;379;g3cccc9c2ef5_0_433"/>
            <p:cNvSpPr txBox="1"/>
            <p:nvPr/>
          </p:nvSpPr>
          <p:spPr>
            <a:xfrm>
              <a:off x="490940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Near Real-Time Monitoring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0" name="Google Shape;380;g3cccc9c2ef5_0_433"/>
            <p:cNvSpPr txBox="1"/>
            <p:nvPr/>
          </p:nvSpPr>
          <p:spPr>
            <a:xfrm>
              <a:off x="3095950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Centralised Data Platform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1" name="Google Shape;381;g3cccc9c2ef5_0_433"/>
            <p:cNvSpPr txBox="1"/>
            <p:nvPr/>
          </p:nvSpPr>
          <p:spPr>
            <a:xfrm>
              <a:off x="8298738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Predictive Maintenance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2" name="Google Shape;382;g3cccc9c2ef5_0_433"/>
            <p:cNvSpPr txBox="1"/>
            <p:nvPr/>
          </p:nvSpPr>
          <p:spPr>
            <a:xfrm>
              <a:off x="5700938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Operational Efficiency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3" name="Google Shape;383;g3cccc9c2ef5_0_433" title="slides_RealTimeMonitoring.png"/>
            <p:cNvPicPr preferRelativeResize="0"/>
            <p:nvPr/>
          </p:nvPicPr>
          <p:blipFill rotWithShape="1">
            <a:blip r:embed="rId5">
              <a:alphaModFix/>
            </a:blip>
            <a:srcRect l="11695" t="10895" r="11210" b="12541"/>
            <a:stretch/>
          </p:blipFill>
          <p:spPr>
            <a:xfrm>
              <a:off x="1036200" y="1809658"/>
              <a:ext cx="1717800" cy="1717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84" name="Google Shape;384;g3cccc9c2ef5_0_433" title="slides_CentralisedPlatform.png"/>
            <p:cNvPicPr preferRelativeResize="0"/>
            <p:nvPr/>
          </p:nvPicPr>
          <p:blipFill rotWithShape="1">
            <a:blip r:embed="rId6">
              <a:alphaModFix/>
            </a:blip>
            <a:srcRect l="11829" t="10759" r="11213" b="13472"/>
            <a:stretch/>
          </p:blipFill>
          <p:spPr>
            <a:xfrm>
              <a:off x="3641200" y="1809658"/>
              <a:ext cx="1717800" cy="1717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85" name="Google Shape;385;g3cccc9c2ef5_0_433" title="slides_OperationalEfficiency.png"/>
            <p:cNvPicPr preferRelativeResize="0"/>
            <p:nvPr/>
          </p:nvPicPr>
          <p:blipFill rotWithShape="1">
            <a:blip r:embed="rId7">
              <a:alphaModFix/>
            </a:blip>
            <a:srcRect l="12718" t="10657" r="12207" b="15383"/>
            <a:stretch/>
          </p:blipFill>
          <p:spPr>
            <a:xfrm>
              <a:off x="6246200" y="1809658"/>
              <a:ext cx="1717800" cy="1717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86" name="Google Shape;386;g3cccc9c2ef5_0_433" title="slides_PredictiveMaintenance.png"/>
            <p:cNvPicPr preferRelativeResize="0"/>
            <p:nvPr/>
          </p:nvPicPr>
          <p:blipFill rotWithShape="1">
            <a:blip r:embed="rId8">
              <a:alphaModFix/>
            </a:blip>
            <a:srcRect l="12439" t="10629" r="11895" b="15198"/>
            <a:stretch/>
          </p:blipFill>
          <p:spPr>
            <a:xfrm>
              <a:off x="8851200" y="1809658"/>
              <a:ext cx="1717800" cy="171780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cccc9c2ef5_0_494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1" t="38172" r="21523" b="4659"/>
          <a:stretch/>
        </p:blipFill>
        <p:spPr>
          <a:xfrm rot="10800000">
            <a:off x="-5" y="9876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cccc9c2ef5_0_494"/>
          <p:cNvSpPr/>
          <p:nvPr/>
        </p:nvSpPr>
        <p:spPr>
          <a:xfrm>
            <a:off x="0" y="32507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ccc9c2ef5_0_494"/>
          <p:cNvSpPr/>
          <p:nvPr/>
        </p:nvSpPr>
        <p:spPr>
          <a:xfrm rot="10800000">
            <a:off x="-77916" y="24702"/>
            <a:ext cx="5854800" cy="68796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cccc9c2ef5_0_494"/>
          <p:cNvSpPr/>
          <p:nvPr/>
        </p:nvSpPr>
        <p:spPr>
          <a:xfrm>
            <a:off x="12994593" y="-2218046"/>
            <a:ext cx="4215300" cy="11070000"/>
          </a:xfrm>
          <a:prstGeom prst="parallelogram">
            <a:avLst>
              <a:gd name="adj" fmla="val 87279"/>
            </a:avLst>
          </a:prstGeom>
          <a:solidFill>
            <a:srgbClr val="A4C3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cccc9c2ef5_0_494"/>
          <p:cNvSpPr/>
          <p:nvPr/>
        </p:nvSpPr>
        <p:spPr>
          <a:xfrm>
            <a:off x="14046770" y="-1926071"/>
            <a:ext cx="4443600" cy="10155600"/>
          </a:xfrm>
          <a:prstGeom prst="parallelogram">
            <a:avLst>
              <a:gd name="adj" fmla="val 74729"/>
            </a:avLst>
          </a:prstGeom>
          <a:solidFill>
            <a:srgbClr val="CFEDFD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g3cccc9c2ef5_0_494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397" name="Google Shape;397;g3cccc9c2ef5_0_494" descr="A close-up of a sign&#10;&#10;Description automatically generated with medium confiden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g3cccc9c2ef5_0_494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g3cccc9c2ef5_0_494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DATA SECURITY &amp; SYSTEM PROTECTION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400" name="Google Shape;400;g3cccc9c2ef5_0_494"/>
          <p:cNvGrpSpPr/>
          <p:nvPr/>
        </p:nvGrpSpPr>
        <p:grpSpPr>
          <a:xfrm>
            <a:off x="170499" y="4083508"/>
            <a:ext cx="11850995" cy="962563"/>
            <a:chOff x="-77926" y="3527468"/>
            <a:chExt cx="11850995" cy="962563"/>
          </a:xfrm>
        </p:grpSpPr>
        <p:sp>
          <p:nvSpPr>
            <p:cNvPr id="401" name="Google Shape;401;g3cccc9c2ef5_0_494"/>
            <p:cNvSpPr txBox="1"/>
            <p:nvPr/>
          </p:nvSpPr>
          <p:spPr>
            <a:xfrm>
              <a:off x="-77926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Secure Data Transmission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2" name="Google Shape;402;g3cccc9c2ef5_0_494"/>
            <p:cNvSpPr txBox="1"/>
            <p:nvPr/>
          </p:nvSpPr>
          <p:spPr>
            <a:xfrm>
              <a:off x="2185134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Authentication &amp; Access Control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3" name="Google Shape;403;g3cccc9c2ef5_0_494"/>
            <p:cNvSpPr txBox="1"/>
            <p:nvPr/>
          </p:nvSpPr>
          <p:spPr>
            <a:xfrm>
              <a:off x="6695228" y="3531231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Vessel-Level Data Protection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g3cccc9c2ef5_0_494"/>
            <p:cNvSpPr txBox="1"/>
            <p:nvPr/>
          </p:nvSpPr>
          <p:spPr>
            <a:xfrm>
              <a:off x="4451537" y="3527468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Multi-Layer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Security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5" name="Google Shape;405;g3cccc9c2ef5_0_494"/>
            <p:cNvSpPr txBox="1"/>
            <p:nvPr/>
          </p:nvSpPr>
          <p:spPr>
            <a:xfrm>
              <a:off x="8964769" y="3531231"/>
              <a:ext cx="2808300" cy="9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Audit &amp;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Monitoring </a:t>
              </a: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06" name="Google Shape;406;g3cccc9c2ef5_0_494" title="slidess_EncryptedData.png"/>
          <p:cNvPicPr preferRelativeResize="0"/>
          <p:nvPr/>
        </p:nvPicPr>
        <p:blipFill rotWithShape="1">
          <a:blip r:embed="rId5">
            <a:alphaModFix/>
          </a:blip>
          <a:srcRect l="13122" t="12069" r="11893" b="14832"/>
          <a:stretch/>
        </p:blipFill>
        <p:spPr>
          <a:xfrm>
            <a:off x="711400" y="2365700"/>
            <a:ext cx="1717500" cy="172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7" name="Google Shape;407;g3cccc9c2ef5_0_494" title="slidess_AccessControl.png"/>
          <p:cNvPicPr preferRelativeResize="0"/>
          <p:nvPr/>
        </p:nvPicPr>
        <p:blipFill rotWithShape="1">
          <a:blip r:embed="rId6">
            <a:alphaModFix/>
          </a:blip>
          <a:srcRect l="12711" t="10305" r="12434" b="15610"/>
          <a:stretch/>
        </p:blipFill>
        <p:spPr>
          <a:xfrm>
            <a:off x="2977132" y="2365700"/>
            <a:ext cx="1717500" cy="172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8" name="Google Shape;408;g3cccc9c2ef5_0_494" title="slidess_MultiLayerSecurity.png"/>
          <p:cNvPicPr preferRelativeResize="0"/>
          <p:nvPr/>
        </p:nvPicPr>
        <p:blipFill rotWithShape="1">
          <a:blip r:embed="rId7">
            <a:alphaModFix/>
          </a:blip>
          <a:srcRect l="13347" t="11004" r="12584" b="15140"/>
          <a:stretch/>
        </p:blipFill>
        <p:spPr>
          <a:xfrm>
            <a:off x="5242850" y="2365875"/>
            <a:ext cx="1717500" cy="172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9" name="Google Shape;409;g3cccc9c2ef5_0_494" title="slidess_VesselData.png"/>
          <p:cNvPicPr preferRelativeResize="0"/>
          <p:nvPr/>
        </p:nvPicPr>
        <p:blipFill rotWithShape="1">
          <a:blip r:embed="rId8">
            <a:alphaModFix/>
          </a:blip>
          <a:srcRect l="13003" t="11326" r="12951" b="14649"/>
          <a:stretch/>
        </p:blipFill>
        <p:spPr>
          <a:xfrm>
            <a:off x="7503075" y="2363825"/>
            <a:ext cx="1717500" cy="172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0" name="Google Shape;410;g3cccc9c2ef5_0_494" title="slidess_SecurityMonitoring.png"/>
          <p:cNvPicPr preferRelativeResize="0"/>
          <p:nvPr/>
        </p:nvPicPr>
        <p:blipFill rotWithShape="1">
          <a:blip r:embed="rId9">
            <a:alphaModFix/>
          </a:blip>
          <a:srcRect l="12801" t="10517" r="12292" b="15050"/>
          <a:stretch/>
        </p:blipFill>
        <p:spPr>
          <a:xfrm>
            <a:off x="9763300" y="2362125"/>
            <a:ext cx="1717500" cy="172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262011">
            <a:off x="7922113" y="1503495"/>
            <a:ext cx="1733238" cy="233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262011">
            <a:off x="5065616" y="1472091"/>
            <a:ext cx="1733238" cy="233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 descr="A picture containing blue, art&#10;&#10;Description automatically generated"/>
          <p:cNvPicPr preferRelativeResize="0"/>
          <p:nvPr/>
        </p:nvPicPr>
        <p:blipFill rotWithShape="1">
          <a:blip r:embed="rId4">
            <a:alphaModFix amt="20000"/>
          </a:blip>
          <a:srcRect l="10730" t="38172" r="21522" b="4658"/>
          <a:stretch/>
        </p:blipFill>
        <p:spPr>
          <a:xfrm rot="10800000">
            <a:off x="0" y="5874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/>
          <p:nvPr/>
        </p:nvSpPr>
        <p:spPr>
          <a:xfrm>
            <a:off x="-32075" y="-3001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 rot="10800000">
            <a:off x="-99" y="6500"/>
            <a:ext cx="5854800" cy="68580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1" name="Google Shape;20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3172" y="2733954"/>
            <a:ext cx="3060457" cy="2847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/>
          <p:nvPr/>
        </p:nvSpPr>
        <p:spPr>
          <a:xfrm>
            <a:off x="6233781" y="2945621"/>
            <a:ext cx="2676900" cy="2474400"/>
          </a:xfrm>
          <a:prstGeom prst="roundRect">
            <a:avLst>
              <a:gd name="adj" fmla="val 9542"/>
            </a:avLst>
          </a:prstGeom>
          <a:solidFill>
            <a:srgbClr val="F2F2F2">
              <a:alpha val="83529"/>
            </a:srgb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283570" y="2945659"/>
            <a:ext cx="2676900" cy="2474400"/>
          </a:xfrm>
          <a:prstGeom prst="roundRect">
            <a:avLst>
              <a:gd name="adj" fmla="val 9542"/>
            </a:avLst>
          </a:prstGeom>
          <a:solidFill>
            <a:srgbClr val="F2F2F2">
              <a:alpha val="83529"/>
            </a:srgb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3443323" y="3047502"/>
            <a:ext cx="208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Data Collector</a:t>
            </a:r>
            <a:endParaRPr sz="1800" b="1" i="0" u="none" strike="noStrike" cap="none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5" name="Google Shape;205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7655" y="3933076"/>
            <a:ext cx="2089136" cy="70766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"/>
          <p:cNvSpPr txBox="1"/>
          <p:nvPr/>
        </p:nvSpPr>
        <p:spPr>
          <a:xfrm>
            <a:off x="6386452" y="3047502"/>
            <a:ext cx="2610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Remote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Server</a:t>
            </a:r>
            <a:endParaRPr sz="1800" b="1" i="0" u="none" strike="noStrike" cap="none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33358" y="2945621"/>
            <a:ext cx="2676900" cy="2474400"/>
          </a:xfrm>
          <a:prstGeom prst="roundRect">
            <a:avLst>
              <a:gd name="adj" fmla="val 9542"/>
            </a:avLst>
          </a:prstGeom>
          <a:solidFill>
            <a:srgbClr val="F2F2F2">
              <a:alpha val="83529"/>
            </a:srgb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517027" y="2971302"/>
            <a:ext cx="10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Sensors</a:t>
            </a:r>
            <a:endParaRPr sz="1800" b="1" i="0" u="none" strike="noStrike" cap="none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9" name="Google Shape;20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37838" y="3371392"/>
            <a:ext cx="1582208" cy="1123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3009" y="3551642"/>
            <a:ext cx="1584105" cy="158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"/>
          <p:cNvPicPr preferRelativeResize="0"/>
          <p:nvPr/>
        </p:nvPicPr>
        <p:blipFill rotWithShape="1">
          <a:blip r:embed="rId9">
            <a:alphaModFix/>
          </a:blip>
          <a:srcRect l="-1020" t="5291" r="1020" b="40480"/>
          <a:stretch/>
        </p:blipFill>
        <p:spPr>
          <a:xfrm>
            <a:off x="1141965" y="3976766"/>
            <a:ext cx="1822416" cy="11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"/>
          <p:cNvSpPr txBox="1"/>
          <p:nvPr/>
        </p:nvSpPr>
        <p:spPr>
          <a:xfrm>
            <a:off x="710121" y="2056918"/>
            <a:ext cx="432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MODBUS, DECSS, individual wiring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4998209" y="2056930"/>
            <a:ext cx="1849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14" name="Google Shape;214;p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78426" y="3484693"/>
            <a:ext cx="1496251" cy="15053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 txBox="1"/>
          <p:nvPr/>
        </p:nvSpPr>
        <p:spPr>
          <a:xfrm>
            <a:off x="9394315" y="3021886"/>
            <a:ext cx="203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DRUMS website</a:t>
            </a:r>
            <a:endParaRPr sz="1800" b="1" i="0" u="none" strike="noStrike" cap="none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6" name="Google Shape;216;p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85195" y="3701225"/>
            <a:ext cx="902247" cy="8157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5000" sy="105000" algn="ctr" rotWithShape="0">
              <a:srgbClr val="000000">
                <a:alpha val="41569"/>
              </a:srgbClr>
            </a:outerShdw>
          </a:effectLst>
        </p:spPr>
      </p:pic>
      <p:pic>
        <p:nvPicPr>
          <p:cNvPr id="217" name="Google Shape;217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262011">
            <a:off x="2051185" y="1472091"/>
            <a:ext cx="1733238" cy="2337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537989" flipH="1">
            <a:off x="4994984" y="4558478"/>
            <a:ext cx="1733238" cy="2337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537989" flipH="1">
            <a:off x="7987647" y="4558478"/>
            <a:ext cx="1733238" cy="2337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" descr="A blue arrow pointing upward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537989" flipH="1">
            <a:off x="2039059" y="4558478"/>
            <a:ext cx="1733238" cy="2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 txBox="1"/>
          <p:nvPr/>
        </p:nvSpPr>
        <p:spPr>
          <a:xfrm>
            <a:off x="4530882" y="6041816"/>
            <a:ext cx="2403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Compressed &amp; encrypted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7749217" y="6041825"/>
            <a:ext cx="267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 of ~51.2 KB is instantly transmitted every 3 minutes.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23" name="Google Shape;223;p4" title="IMG_20251031_150849_preview.jpe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16416" y="3498938"/>
            <a:ext cx="1344600" cy="17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 descr="A close-up of a circuit board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94001" y="3649024"/>
            <a:ext cx="1344589" cy="17917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1857116" y="6041825"/>
            <a:ext cx="182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Approx. 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11.2 KB CSV file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226" name="Google Shape;226;p4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227" name="Google Shape;227;p4" descr="A close-up of a sign&#10;&#10;Description automatically generated with medium confidence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4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4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DRUMS CONFIGURATION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2385445" y="1332850"/>
            <a:ext cx="742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o"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Collection of data from Daihatsu DECSS via Serial Interface</a:t>
            </a: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7872960" y="2056930"/>
            <a:ext cx="1849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 sz="1300" b="0" i="0" u="none" strike="noStrike" cap="non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b64142c3ec_1_0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0" t="38171" r="21522" b="4659"/>
          <a:stretch/>
        </p:blipFill>
        <p:spPr>
          <a:xfrm rot="10800000">
            <a:off x="-9" y="-14577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b64142c3ec_1_0"/>
          <p:cNvSpPr/>
          <p:nvPr/>
        </p:nvSpPr>
        <p:spPr>
          <a:xfrm>
            <a:off x="21244" y="-17533"/>
            <a:ext cx="12192000" cy="6864000"/>
          </a:xfrm>
          <a:prstGeom prst="rect">
            <a:avLst/>
          </a:prstGeom>
          <a:solidFill>
            <a:srgbClr val="026DAA">
              <a:alpha val="2039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b64142c3ec_1_0"/>
          <p:cNvSpPr/>
          <p:nvPr/>
        </p:nvSpPr>
        <p:spPr>
          <a:xfrm rot="10800000">
            <a:off x="-4" y="35594"/>
            <a:ext cx="5854800" cy="68580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64142c3ec_1_0"/>
          <p:cNvSpPr txBox="1"/>
          <p:nvPr/>
        </p:nvSpPr>
        <p:spPr>
          <a:xfrm>
            <a:off x="3720036" y="4543428"/>
            <a:ext cx="191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Cellular network</a:t>
            </a:r>
            <a:endParaRPr sz="1400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0" name="Google Shape;240;g3b64142c3ec_1_0"/>
          <p:cNvSpPr txBox="1"/>
          <p:nvPr/>
        </p:nvSpPr>
        <p:spPr>
          <a:xfrm>
            <a:off x="3951958" y="1638456"/>
            <a:ext cx="145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Wi-Fi</a:t>
            </a:r>
            <a:endParaRPr sz="1400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1" name="Google Shape;241;g3b64142c3ec_1_0"/>
          <p:cNvSpPr txBox="1"/>
          <p:nvPr/>
        </p:nvSpPr>
        <p:spPr>
          <a:xfrm>
            <a:off x="4007739" y="3095318"/>
            <a:ext cx="153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RJ45/ethernet</a:t>
            </a:r>
            <a:endParaRPr sz="1400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2" name="Google Shape;242;g3b64142c3ec_1_0" descr="A black wifi symbol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2725" y="1497376"/>
            <a:ext cx="423525" cy="4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b64142c3ec_1_0" descr="A picture containing black, darknes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4265" y="4632910"/>
            <a:ext cx="395025" cy="1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b64142c3ec_1_0"/>
          <p:cNvSpPr/>
          <p:nvPr/>
        </p:nvSpPr>
        <p:spPr>
          <a:xfrm>
            <a:off x="9414882" y="2359485"/>
            <a:ext cx="1443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Vessel internet</a:t>
            </a:r>
            <a:endParaRPr sz="1400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5" name="Google Shape;245;g3b64142c3ec_1_0" descr="A picture containing logo, design, symbol, screensho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21397" t="20181" r="22600" b="26299"/>
          <a:stretch/>
        </p:blipFill>
        <p:spPr>
          <a:xfrm>
            <a:off x="5532736" y="2948597"/>
            <a:ext cx="423505" cy="43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g3b64142c3ec_1_0"/>
          <p:cNvGrpSpPr/>
          <p:nvPr/>
        </p:nvGrpSpPr>
        <p:grpSpPr>
          <a:xfrm>
            <a:off x="7541378" y="1083579"/>
            <a:ext cx="666600" cy="1241400"/>
            <a:chOff x="6673401" y="624369"/>
            <a:chExt cx="666600" cy="1241400"/>
          </a:xfrm>
        </p:grpSpPr>
        <p:sp>
          <p:nvSpPr>
            <p:cNvPr id="247" name="Google Shape;247;g3b64142c3ec_1_0"/>
            <p:cNvSpPr/>
            <p:nvPr/>
          </p:nvSpPr>
          <p:spPr>
            <a:xfrm>
              <a:off x="6673401" y="624369"/>
              <a:ext cx="6666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3b64142c3ec_1_0"/>
            <p:cNvSpPr txBox="1"/>
            <p:nvPr/>
          </p:nvSpPr>
          <p:spPr>
            <a:xfrm>
              <a:off x="6673401" y="624369"/>
              <a:ext cx="6666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0" rIns="533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oppins Medium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Wi-Fi router</a:t>
              </a:r>
              <a:endParaRPr sz="1400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249" name="Google Shape;249;g3b64142c3ec_1_0"/>
          <p:cNvGrpSpPr/>
          <p:nvPr/>
        </p:nvGrpSpPr>
        <p:grpSpPr>
          <a:xfrm>
            <a:off x="7570933" y="2647996"/>
            <a:ext cx="716100" cy="1241400"/>
            <a:chOff x="6782053" y="2013690"/>
            <a:chExt cx="716100" cy="1241400"/>
          </a:xfrm>
        </p:grpSpPr>
        <p:sp>
          <p:nvSpPr>
            <p:cNvPr id="250" name="Google Shape;250;g3b64142c3ec_1_0"/>
            <p:cNvSpPr/>
            <p:nvPr/>
          </p:nvSpPr>
          <p:spPr>
            <a:xfrm>
              <a:off x="6782053" y="2013690"/>
              <a:ext cx="7161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g3b64142c3ec_1_0"/>
            <p:cNvSpPr txBox="1"/>
            <p:nvPr/>
          </p:nvSpPr>
          <p:spPr>
            <a:xfrm>
              <a:off x="6782053" y="2013690"/>
              <a:ext cx="7161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0" rIns="533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oppins Medium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Router</a:t>
              </a:r>
              <a:endParaRPr sz="1400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252" name="Google Shape;252;g3b64142c3ec_1_0"/>
          <p:cNvGrpSpPr/>
          <p:nvPr/>
        </p:nvGrpSpPr>
        <p:grpSpPr>
          <a:xfrm>
            <a:off x="7576911" y="4408795"/>
            <a:ext cx="1189983" cy="494222"/>
            <a:chOff x="6673401" y="3326014"/>
            <a:chExt cx="1431300" cy="1436692"/>
          </a:xfrm>
        </p:grpSpPr>
        <p:sp>
          <p:nvSpPr>
            <p:cNvPr id="253" name="Google Shape;253;g3b64142c3ec_1_0"/>
            <p:cNvSpPr/>
            <p:nvPr/>
          </p:nvSpPr>
          <p:spPr>
            <a:xfrm>
              <a:off x="6673401" y="3521306"/>
              <a:ext cx="14313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b64142c3ec_1_0"/>
            <p:cNvSpPr txBox="1"/>
            <p:nvPr/>
          </p:nvSpPr>
          <p:spPr>
            <a:xfrm>
              <a:off x="6673401" y="3326014"/>
              <a:ext cx="1431300" cy="12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0" rIns="533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oppins Medium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Cellular dongle</a:t>
              </a:r>
              <a:endParaRPr sz="1400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cxnSp>
        <p:nvCxnSpPr>
          <p:cNvPr id="255" name="Google Shape;255;g3b64142c3ec_1_0"/>
          <p:cNvCxnSpPr/>
          <p:nvPr/>
        </p:nvCxnSpPr>
        <p:spPr>
          <a:xfrm>
            <a:off x="8381274" y="1921085"/>
            <a:ext cx="725100" cy="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6" name="Google Shape;256;g3b64142c3ec_1_0"/>
          <p:cNvCxnSpPr/>
          <p:nvPr/>
        </p:nvCxnSpPr>
        <p:spPr>
          <a:xfrm>
            <a:off x="9111000" y="1910078"/>
            <a:ext cx="0" cy="151710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7" name="Google Shape;257;g3b64142c3ec_1_0"/>
          <p:cNvCxnSpPr/>
          <p:nvPr/>
        </p:nvCxnSpPr>
        <p:spPr>
          <a:xfrm>
            <a:off x="9096103" y="2627697"/>
            <a:ext cx="501000" cy="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8" name="Google Shape;258;g3b64142c3ec_1_0"/>
          <p:cNvCxnSpPr/>
          <p:nvPr/>
        </p:nvCxnSpPr>
        <p:spPr>
          <a:xfrm>
            <a:off x="3195320" y="3414422"/>
            <a:ext cx="5212200" cy="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9" name="Google Shape;259;g3b64142c3ec_1_0"/>
          <p:cNvCxnSpPr/>
          <p:nvPr/>
        </p:nvCxnSpPr>
        <p:spPr>
          <a:xfrm>
            <a:off x="3205480" y="1920902"/>
            <a:ext cx="5212200" cy="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g3b64142c3ec_1_0"/>
          <p:cNvCxnSpPr/>
          <p:nvPr/>
        </p:nvCxnSpPr>
        <p:spPr>
          <a:xfrm rot="10800000" flipH="1">
            <a:off x="3266440" y="4843602"/>
            <a:ext cx="6272400" cy="2370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1" name="Google Shape;261;g3b64142c3ec_1_0"/>
          <p:cNvCxnSpPr/>
          <p:nvPr/>
        </p:nvCxnSpPr>
        <p:spPr>
          <a:xfrm>
            <a:off x="8395667" y="3414605"/>
            <a:ext cx="725100" cy="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62" name="Google Shape;262;g3b64142c3ec_1_0"/>
          <p:cNvGrpSpPr/>
          <p:nvPr/>
        </p:nvGrpSpPr>
        <p:grpSpPr>
          <a:xfrm>
            <a:off x="10055333" y="1754943"/>
            <a:ext cx="1079836" cy="3108960"/>
            <a:chOff x="10310120" y="1818640"/>
            <a:chExt cx="1079836" cy="3108960"/>
          </a:xfrm>
        </p:grpSpPr>
        <p:cxnSp>
          <p:nvCxnSpPr>
            <p:cNvPr id="263" name="Google Shape;263;g3b64142c3ec_1_0"/>
            <p:cNvCxnSpPr/>
            <p:nvPr/>
          </p:nvCxnSpPr>
          <p:spPr>
            <a:xfrm>
              <a:off x="10363656" y="1828800"/>
              <a:ext cx="1026300" cy="0"/>
            </a:xfrm>
            <a:prstGeom prst="straightConnector1">
              <a:avLst/>
            </a:prstGeom>
            <a:noFill/>
            <a:ln w="25400" cap="flat" cmpd="sng">
              <a:solidFill>
                <a:srgbClr val="C55A1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4" name="Google Shape;264;g3b64142c3ec_1_0"/>
            <p:cNvCxnSpPr/>
            <p:nvPr/>
          </p:nvCxnSpPr>
          <p:spPr>
            <a:xfrm>
              <a:off x="11389360" y="1818640"/>
              <a:ext cx="0" cy="3108900"/>
            </a:xfrm>
            <a:prstGeom prst="straightConnector1">
              <a:avLst/>
            </a:prstGeom>
            <a:noFill/>
            <a:ln w="25400" cap="flat" cmpd="sng">
              <a:solidFill>
                <a:srgbClr val="C55A1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5" name="Google Shape;265;g3b64142c3ec_1_0"/>
            <p:cNvCxnSpPr/>
            <p:nvPr/>
          </p:nvCxnSpPr>
          <p:spPr>
            <a:xfrm>
              <a:off x="10310120" y="4927600"/>
              <a:ext cx="1026300" cy="0"/>
            </a:xfrm>
            <a:prstGeom prst="straightConnector1">
              <a:avLst/>
            </a:prstGeom>
            <a:noFill/>
            <a:ln w="25400" cap="flat" cmpd="sng">
              <a:solidFill>
                <a:srgbClr val="C55A1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6" name="Google Shape;266;g3b64142c3ec_1_0"/>
          <p:cNvSpPr txBox="1"/>
          <p:nvPr/>
        </p:nvSpPr>
        <p:spPr>
          <a:xfrm rot="5400000">
            <a:off x="9606511" y="2846974"/>
            <a:ext cx="3432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Cloud Server</a:t>
            </a:r>
            <a:endParaRPr sz="1600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67" name="Google Shape;267;g3b64142c3ec_1_0" title="z7356285986988_6fc103c2d18730ded6b9ca7f50037f3b.jpg"/>
          <p:cNvPicPr preferRelativeResize="0"/>
          <p:nvPr/>
        </p:nvPicPr>
        <p:blipFill rotWithShape="1">
          <a:blip r:embed="rId7">
            <a:alphaModFix/>
          </a:blip>
          <a:srcRect l="7469" t="12504" r="7459" b="9484"/>
          <a:stretch/>
        </p:blipFill>
        <p:spPr>
          <a:xfrm rot="5400000">
            <a:off x="187600" y="2036936"/>
            <a:ext cx="4048123" cy="27841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g3b64142c3ec_1_0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269" name="Google Shape;269;g3b64142c3ec_1_0" descr="A close-up of a sign&#10;&#10;Description automatically generated with medium confidenc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g3b64142c3ec_1_0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g3b64142c3ec_1_0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CONNECTIVITY OPTIONS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2" name="Google Shape;272;g3b64142c3ec_1_0"/>
          <p:cNvSpPr/>
          <p:nvPr/>
        </p:nvSpPr>
        <p:spPr>
          <a:xfrm>
            <a:off x="6158841" y="1281980"/>
            <a:ext cx="1263900" cy="1268700"/>
          </a:xfrm>
          <a:prstGeom prst="flowChartConnector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b64142c3ec_1_0"/>
          <p:cNvSpPr/>
          <p:nvPr/>
        </p:nvSpPr>
        <p:spPr>
          <a:xfrm>
            <a:off x="6147611" y="2791542"/>
            <a:ext cx="1263900" cy="1268700"/>
          </a:xfrm>
          <a:prstGeom prst="flowChartConnector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b64142c3ec_1_0"/>
          <p:cNvSpPr/>
          <p:nvPr/>
        </p:nvSpPr>
        <p:spPr>
          <a:xfrm>
            <a:off x="6146007" y="4243352"/>
            <a:ext cx="1263900" cy="1268700"/>
          </a:xfrm>
          <a:prstGeom prst="flowChartConnector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cccc9c2ef5_0_303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1" t="38172" r="21523" b="4659"/>
          <a:stretch/>
        </p:blipFill>
        <p:spPr>
          <a:xfrm rot="10800000">
            <a:off x="-9" y="-14577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cccc9c2ef5_0_303"/>
          <p:cNvSpPr/>
          <p:nvPr/>
        </p:nvSpPr>
        <p:spPr>
          <a:xfrm>
            <a:off x="21244" y="-17533"/>
            <a:ext cx="12192000" cy="6864000"/>
          </a:xfrm>
          <a:prstGeom prst="rect">
            <a:avLst/>
          </a:prstGeom>
          <a:solidFill>
            <a:srgbClr val="026DAA">
              <a:alpha val="2039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ccc9c2ef5_0_303"/>
          <p:cNvSpPr/>
          <p:nvPr/>
        </p:nvSpPr>
        <p:spPr>
          <a:xfrm rot="10800000">
            <a:off x="-4" y="35594"/>
            <a:ext cx="5854800" cy="68580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cccc9c2ef5_0_303"/>
          <p:cNvSpPr/>
          <p:nvPr/>
        </p:nvSpPr>
        <p:spPr>
          <a:xfrm>
            <a:off x="7570933" y="2647996"/>
            <a:ext cx="716100" cy="12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ccc9c2ef5_0_303"/>
          <p:cNvSpPr/>
          <p:nvPr/>
        </p:nvSpPr>
        <p:spPr>
          <a:xfrm>
            <a:off x="7576910" y="4475976"/>
            <a:ext cx="1189983" cy="427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g3cccc9c2ef5_0_303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285" name="Google Shape;285;g3cccc9c2ef5_0_303" descr="A close-up of a sign&#10;&#10;Description automatically generated with medium confiden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g3cccc9c2ef5_0_303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g3cccc9c2ef5_0_303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DRUMS ARCHITECTURE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88" name="Google Shape;288;g3cccc9c2ef5_0_303" title="drums_arch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400" y="1069400"/>
            <a:ext cx="9185702" cy="5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b64142c3ec_1_322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0" t="38171" r="21522" b="4659"/>
          <a:stretch/>
        </p:blipFill>
        <p:spPr>
          <a:xfrm rot="10800000">
            <a:off x="-1" y="5872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b64142c3ec_1_322"/>
          <p:cNvSpPr/>
          <p:nvPr/>
        </p:nvSpPr>
        <p:spPr>
          <a:xfrm rot="10800000">
            <a:off x="-101" y="0"/>
            <a:ext cx="5854800" cy="68580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g3b64142c3ec_1_322"/>
          <p:cNvGrpSpPr/>
          <p:nvPr/>
        </p:nvGrpSpPr>
        <p:grpSpPr>
          <a:xfrm>
            <a:off x="6856530" y="922515"/>
            <a:ext cx="3068400" cy="2531160"/>
            <a:chOff x="4383055" y="1826103"/>
            <a:chExt cx="3068400" cy="2531160"/>
          </a:xfrm>
        </p:grpSpPr>
        <p:sp>
          <p:nvSpPr>
            <p:cNvPr id="296" name="Google Shape;296;g3b64142c3ec_1_322"/>
            <p:cNvSpPr/>
            <p:nvPr/>
          </p:nvSpPr>
          <p:spPr>
            <a:xfrm>
              <a:off x="4383055" y="1826103"/>
              <a:ext cx="3068400" cy="2496000"/>
            </a:xfrm>
            <a:prstGeom prst="rect">
              <a:avLst/>
            </a:prstGeom>
            <a:solidFill>
              <a:srgbClr val="44546A">
                <a:alpha val="4823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g3b64142c3ec_1_322"/>
            <p:cNvSpPr txBox="1"/>
            <p:nvPr/>
          </p:nvSpPr>
          <p:spPr>
            <a:xfrm>
              <a:off x="4479277" y="3987963"/>
              <a:ext cx="2856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Emarat (6 Vessels)</a:t>
              </a:r>
              <a:endParaRPr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8" name="Google Shape;298;g3b64142c3ec_1_3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55075" y="2005374"/>
              <a:ext cx="1905000" cy="1905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g3b64142c3ec_1_322"/>
          <p:cNvGrpSpPr/>
          <p:nvPr/>
        </p:nvGrpSpPr>
        <p:grpSpPr>
          <a:xfrm>
            <a:off x="6856525" y="3902053"/>
            <a:ext cx="3068409" cy="2507796"/>
            <a:chOff x="6495650" y="4123703"/>
            <a:chExt cx="3068409" cy="2507796"/>
          </a:xfrm>
        </p:grpSpPr>
        <p:sp>
          <p:nvSpPr>
            <p:cNvPr id="300" name="Google Shape;300;g3b64142c3ec_1_322"/>
            <p:cNvSpPr/>
            <p:nvPr/>
          </p:nvSpPr>
          <p:spPr>
            <a:xfrm>
              <a:off x="6495659" y="4123703"/>
              <a:ext cx="3068400" cy="2496000"/>
            </a:xfrm>
            <a:prstGeom prst="rect">
              <a:avLst/>
            </a:prstGeom>
            <a:solidFill>
              <a:srgbClr val="44546A">
                <a:alpha val="4823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g3b64142c3ec_1_322"/>
            <p:cNvSpPr txBox="1"/>
            <p:nvPr/>
          </p:nvSpPr>
          <p:spPr>
            <a:xfrm>
              <a:off x="6495650" y="6262199"/>
              <a:ext cx="306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Jemla (1 Vessel)</a:t>
              </a:r>
              <a:endParaRPr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02" name="Google Shape;302;g3b64142c3ec_1_322"/>
            <p:cNvGrpSpPr/>
            <p:nvPr/>
          </p:nvGrpSpPr>
          <p:grpSpPr>
            <a:xfrm>
              <a:off x="6980300" y="4384450"/>
              <a:ext cx="2099100" cy="1719600"/>
              <a:chOff x="8683975" y="3874875"/>
              <a:chExt cx="2099100" cy="1719600"/>
            </a:xfrm>
          </p:grpSpPr>
          <p:sp>
            <p:nvSpPr>
              <p:cNvPr id="303" name="Google Shape;303;g3b64142c3ec_1_322"/>
              <p:cNvSpPr/>
              <p:nvPr/>
            </p:nvSpPr>
            <p:spPr>
              <a:xfrm>
                <a:off x="8683975" y="3874875"/>
                <a:ext cx="2099100" cy="1719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04" name="Google Shape;304;g3b64142c3ec_1_322"/>
              <p:cNvPicPr preferRelativeResize="0"/>
              <p:nvPr/>
            </p:nvPicPr>
            <p:blipFill rotWithShape="1">
              <a:blip r:embed="rId5">
                <a:alphaModFix/>
              </a:blip>
              <a:srcRect r="67064"/>
              <a:stretch/>
            </p:blipFill>
            <p:spPr>
              <a:xfrm>
                <a:off x="9079399" y="4094881"/>
                <a:ext cx="1459801" cy="12795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05" name="Google Shape;305;g3b64142c3ec_1_322"/>
          <p:cNvSpPr/>
          <p:nvPr/>
        </p:nvSpPr>
        <p:spPr>
          <a:xfrm>
            <a:off x="2267065" y="943378"/>
            <a:ext cx="3068400" cy="2477700"/>
          </a:xfrm>
          <a:prstGeom prst="rect">
            <a:avLst/>
          </a:prstGeom>
          <a:solidFill>
            <a:srgbClr val="44546A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b64142c3ec_1_322"/>
          <p:cNvSpPr txBox="1"/>
          <p:nvPr/>
        </p:nvSpPr>
        <p:spPr>
          <a:xfrm>
            <a:off x="2372985" y="3063513"/>
            <a:ext cx="285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Vitol (4 Vessels)</a:t>
            </a:r>
            <a:endParaRPr sz="14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7" name="Google Shape;307;g3b64142c3ec_1_322"/>
          <p:cNvPicPr preferRelativeResize="0"/>
          <p:nvPr/>
        </p:nvPicPr>
        <p:blipFill rotWithShape="1">
          <a:blip r:embed="rId6">
            <a:alphaModFix/>
          </a:blip>
          <a:srcRect t="5783" b="12295"/>
          <a:stretch/>
        </p:blipFill>
        <p:spPr>
          <a:xfrm>
            <a:off x="2751728" y="1196999"/>
            <a:ext cx="2099100" cy="171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g3b64142c3ec_1_322"/>
          <p:cNvGrpSpPr/>
          <p:nvPr/>
        </p:nvGrpSpPr>
        <p:grpSpPr>
          <a:xfrm>
            <a:off x="2267075" y="3902053"/>
            <a:ext cx="3068409" cy="2507796"/>
            <a:chOff x="8407050" y="1826103"/>
            <a:chExt cx="3068409" cy="2507796"/>
          </a:xfrm>
        </p:grpSpPr>
        <p:sp>
          <p:nvSpPr>
            <p:cNvPr id="309" name="Google Shape;309;g3b64142c3ec_1_322"/>
            <p:cNvSpPr/>
            <p:nvPr/>
          </p:nvSpPr>
          <p:spPr>
            <a:xfrm>
              <a:off x="8407059" y="1826103"/>
              <a:ext cx="3068400" cy="2496000"/>
            </a:xfrm>
            <a:prstGeom prst="rect">
              <a:avLst/>
            </a:prstGeom>
            <a:solidFill>
              <a:srgbClr val="44546A">
                <a:alpha val="4823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b64142c3ec_1_322"/>
            <p:cNvSpPr txBox="1"/>
            <p:nvPr/>
          </p:nvSpPr>
          <p:spPr>
            <a:xfrm>
              <a:off x="8407050" y="3964599"/>
              <a:ext cx="306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Truongminh (4 Vessels)</a:t>
              </a:r>
              <a:endParaRPr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" name="Google Shape;311;g3b64142c3ec_1_3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891700" y="2098075"/>
              <a:ext cx="2099100" cy="1719600"/>
            </a:xfrm>
            <a:prstGeom prst="rect">
              <a:avLst/>
            </a:prstGeom>
            <a:solidFill>
              <a:srgbClr val="44546A">
                <a:alpha val="48235"/>
              </a:srgbClr>
            </a:solidFill>
            <a:ln>
              <a:noFill/>
            </a:ln>
          </p:spPr>
        </p:pic>
      </p:grpSp>
      <p:grpSp>
        <p:nvGrpSpPr>
          <p:cNvPr id="312" name="Google Shape;312;g3b64142c3ec_1_322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313" name="Google Shape;313;g3b64142c3ec_1_322" descr="A close-up of a sign&#10;&#10;Description automatically generated with medium confidenc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g3b64142c3ec_1_322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g3b64142c3ec_1_322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SUPPLY RECORDS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cccc9c2ef5_0_227" descr="A picture containing blue, art&#10;&#10;Description automatically generated"/>
          <p:cNvPicPr preferRelativeResize="0"/>
          <p:nvPr/>
        </p:nvPicPr>
        <p:blipFill rotWithShape="1">
          <a:blip r:embed="rId3">
            <a:alphaModFix amt="20000"/>
          </a:blip>
          <a:srcRect l="10731" t="38172" r="21523" b="4659"/>
          <a:stretch/>
        </p:blipFill>
        <p:spPr>
          <a:xfrm rot="10800000">
            <a:off x="-32751" y="-3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cccc9c2ef5_0_227"/>
          <p:cNvSpPr/>
          <p:nvPr/>
        </p:nvSpPr>
        <p:spPr>
          <a:xfrm rot="10800000">
            <a:off x="-32751" y="0"/>
            <a:ext cx="5854800" cy="6858000"/>
          </a:xfrm>
          <a:prstGeom prst="rect">
            <a:avLst/>
          </a:prstGeom>
          <a:gradFill>
            <a:gsLst>
              <a:gs pos="0">
                <a:srgbClr val="100F0F">
                  <a:alpha val="0"/>
                </a:srgbClr>
              </a:gs>
              <a:gs pos="11000">
                <a:srgbClr val="100F0F">
                  <a:alpha val="0"/>
                </a:srgbClr>
              </a:gs>
              <a:gs pos="100000">
                <a:srgbClr val="17161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cccc9c2ef5_0_227"/>
          <p:cNvSpPr/>
          <p:nvPr/>
        </p:nvSpPr>
        <p:spPr>
          <a:xfrm>
            <a:off x="4" y="-3001"/>
            <a:ext cx="12192000" cy="6864000"/>
          </a:xfrm>
          <a:prstGeom prst="rect">
            <a:avLst/>
          </a:prstGeom>
          <a:solidFill>
            <a:srgbClr val="026DAA">
              <a:alpha val="2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4941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g3cccc9c2ef5_0_227"/>
          <p:cNvGrpSpPr/>
          <p:nvPr/>
        </p:nvGrpSpPr>
        <p:grpSpPr>
          <a:xfrm>
            <a:off x="10566116" y="6243318"/>
            <a:ext cx="1656900" cy="582829"/>
            <a:chOff x="10566116" y="6243318"/>
            <a:chExt cx="1656900" cy="582829"/>
          </a:xfrm>
        </p:grpSpPr>
        <p:pic>
          <p:nvPicPr>
            <p:cNvPr id="324" name="Google Shape;324;g3cccc9c2ef5_0_227" descr="A close-up of a sign&#10;&#10;Description automatically generated with medium confiden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49374" y="6456815"/>
              <a:ext cx="1492254" cy="369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g3cccc9c2ef5_0_227"/>
            <p:cNvSpPr txBox="1"/>
            <p:nvPr/>
          </p:nvSpPr>
          <p:spPr>
            <a:xfrm>
              <a:off x="10566116" y="6243318"/>
              <a:ext cx="1656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9E9E9E"/>
                  </a:solidFill>
                  <a:latin typeface="Poppins"/>
                  <a:ea typeface="Poppins"/>
                  <a:cs typeface="Poppins"/>
                  <a:sym typeface="Poppins"/>
                </a:rPr>
                <a:t>Daikai Engineering Pte Ltd</a:t>
              </a:r>
              <a:endParaRPr sz="13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g3cccc9c2ef5_0_227"/>
          <p:cNvSpPr/>
          <p:nvPr/>
        </p:nvSpPr>
        <p:spPr>
          <a:xfrm>
            <a:off x="242100" y="107142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cccc9c2ef5_0_227"/>
          <p:cNvSpPr txBox="1"/>
          <p:nvPr/>
        </p:nvSpPr>
        <p:spPr>
          <a:xfrm>
            <a:off x="242100" y="2864200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g3cccc9c2ef5_0_227" title="drums_EngDashaboard_Zoomed.png"/>
          <p:cNvPicPr preferRelativeResize="0"/>
          <p:nvPr/>
        </p:nvPicPr>
        <p:blipFill rotWithShape="1">
          <a:blip r:embed="rId5">
            <a:alphaModFix/>
          </a:blip>
          <a:srcRect l="942" r="952"/>
          <a:stretch/>
        </p:blipFill>
        <p:spPr>
          <a:xfrm>
            <a:off x="358220" y="1311039"/>
            <a:ext cx="2578447" cy="15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cccc9c2ef5_0_227"/>
          <p:cNvSpPr/>
          <p:nvPr/>
        </p:nvSpPr>
        <p:spPr>
          <a:xfrm>
            <a:off x="3207801" y="107142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cccc9c2ef5_0_227"/>
          <p:cNvSpPr/>
          <p:nvPr/>
        </p:nvSpPr>
        <p:spPr>
          <a:xfrm>
            <a:off x="6173503" y="107142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ccc9c2ef5_0_227"/>
          <p:cNvSpPr/>
          <p:nvPr/>
        </p:nvSpPr>
        <p:spPr>
          <a:xfrm>
            <a:off x="9139204" y="107142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cccc9c2ef5_0_227"/>
          <p:cNvSpPr/>
          <p:nvPr/>
        </p:nvSpPr>
        <p:spPr>
          <a:xfrm>
            <a:off x="242100" y="374128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cccc9c2ef5_0_227"/>
          <p:cNvSpPr/>
          <p:nvPr/>
        </p:nvSpPr>
        <p:spPr>
          <a:xfrm>
            <a:off x="3207801" y="374128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cccc9c2ef5_0_227"/>
          <p:cNvSpPr/>
          <p:nvPr/>
        </p:nvSpPr>
        <p:spPr>
          <a:xfrm>
            <a:off x="6173503" y="374128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cccc9c2ef5_0_227"/>
          <p:cNvSpPr/>
          <p:nvPr/>
        </p:nvSpPr>
        <p:spPr>
          <a:xfrm>
            <a:off x="9139204" y="3741286"/>
            <a:ext cx="2810700" cy="2518800"/>
          </a:xfrm>
          <a:prstGeom prst="roundRect">
            <a:avLst>
              <a:gd name="adj" fmla="val 16667"/>
            </a:avLst>
          </a:prstGeom>
          <a:solidFill>
            <a:srgbClr val="1A3E4F"/>
          </a:solidFill>
          <a:ln>
            <a:noFill/>
          </a:ln>
        </p:spPr>
        <p:txBody>
          <a:bodyPr spcFirstLastPara="1" wrap="square" lIns="99650" tIns="49825" rIns="99650" bIns="49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2"/>
              <a:buFont typeface="Arial"/>
              <a:buNone/>
            </a:pPr>
            <a:endParaRPr sz="196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cccc9c2ef5_0_227"/>
          <p:cNvSpPr txBox="1"/>
          <p:nvPr/>
        </p:nvSpPr>
        <p:spPr>
          <a:xfrm>
            <a:off x="3207800" y="2864200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 Chatbot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g3cccc9c2ef5_0_227" title="drums_chatbot.png"/>
          <p:cNvPicPr preferRelativeResize="0"/>
          <p:nvPr/>
        </p:nvPicPr>
        <p:blipFill rotWithShape="1">
          <a:blip r:embed="rId6">
            <a:alphaModFix/>
          </a:blip>
          <a:srcRect l="1086" r="1096"/>
          <a:stretch/>
        </p:blipFill>
        <p:spPr>
          <a:xfrm>
            <a:off x="3323920" y="1311039"/>
            <a:ext cx="2578447" cy="15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cccc9c2ef5_0_227"/>
          <p:cNvSpPr txBox="1"/>
          <p:nvPr/>
        </p:nvSpPr>
        <p:spPr>
          <a:xfrm>
            <a:off x="6173500" y="2864200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Homepage Console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9" name="Google Shape;339;g3cccc9c2ef5_0_227" title="drums_homepageConsole.png"/>
          <p:cNvPicPr preferRelativeResize="0"/>
          <p:nvPr/>
        </p:nvPicPr>
        <p:blipFill rotWithShape="1">
          <a:blip r:embed="rId7">
            <a:alphaModFix/>
          </a:blip>
          <a:srcRect t="14256" b="14249"/>
          <a:stretch/>
        </p:blipFill>
        <p:spPr>
          <a:xfrm>
            <a:off x="6289620" y="1311039"/>
            <a:ext cx="2578446" cy="155314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cccc9c2ef5_0_227"/>
          <p:cNvSpPr txBox="1"/>
          <p:nvPr/>
        </p:nvSpPr>
        <p:spPr>
          <a:xfrm>
            <a:off x="9139200" y="2864200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Alarms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g3cccc9c2ef5_0_227" title="drums_Alarmss.png"/>
          <p:cNvPicPr preferRelativeResize="0"/>
          <p:nvPr/>
        </p:nvPicPr>
        <p:blipFill rotWithShape="1">
          <a:blip r:embed="rId8">
            <a:alphaModFix/>
          </a:blip>
          <a:srcRect l="1849" r="1840"/>
          <a:stretch/>
        </p:blipFill>
        <p:spPr>
          <a:xfrm>
            <a:off x="9255320" y="1311039"/>
            <a:ext cx="2578448" cy="15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cccc9c2ef5_0_227"/>
          <p:cNvSpPr txBox="1"/>
          <p:nvPr/>
        </p:nvSpPr>
        <p:spPr>
          <a:xfrm>
            <a:off x="9139200" y="5534075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Exhaust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3" name="Google Shape;343;g3cccc9c2ef5_0_227" title="drums_exhaust.png"/>
          <p:cNvPicPr preferRelativeResize="0"/>
          <p:nvPr/>
        </p:nvPicPr>
        <p:blipFill rotWithShape="1">
          <a:blip r:embed="rId9">
            <a:alphaModFix/>
          </a:blip>
          <a:srcRect b="12042"/>
          <a:stretch/>
        </p:blipFill>
        <p:spPr>
          <a:xfrm>
            <a:off x="9255320" y="3980914"/>
            <a:ext cx="2578448" cy="15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cccc9c2ef5_0_227"/>
          <p:cNvSpPr txBox="1"/>
          <p:nvPr/>
        </p:nvSpPr>
        <p:spPr>
          <a:xfrm>
            <a:off x="6173500" y="5534075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Anomaly Detection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g3cccc9c2ef5_0_227" title="drums_anomaly.png"/>
          <p:cNvPicPr preferRelativeResize="0"/>
          <p:nvPr/>
        </p:nvPicPr>
        <p:blipFill rotWithShape="1">
          <a:blip r:embed="rId10">
            <a:alphaModFix/>
          </a:blip>
          <a:srcRect l="3281" t="13281" r="57895" b="28133"/>
          <a:stretch/>
        </p:blipFill>
        <p:spPr>
          <a:xfrm>
            <a:off x="6289620" y="3980914"/>
            <a:ext cx="2578446" cy="15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cccc9c2ef5_0_227"/>
          <p:cNvSpPr txBox="1"/>
          <p:nvPr/>
        </p:nvSpPr>
        <p:spPr>
          <a:xfrm>
            <a:off x="3207800" y="5534075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Monthly Report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g3cccc9c2ef5_0_227" title="drums_reportt.png"/>
          <p:cNvPicPr preferRelativeResize="0"/>
          <p:nvPr/>
        </p:nvPicPr>
        <p:blipFill rotWithShape="1">
          <a:blip r:embed="rId11">
            <a:alphaModFix/>
          </a:blip>
          <a:srcRect t="923" b="932"/>
          <a:stretch/>
        </p:blipFill>
        <p:spPr>
          <a:xfrm>
            <a:off x="3323920" y="3980914"/>
            <a:ext cx="2578448" cy="15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cccc9c2ef5_0_227"/>
          <p:cNvSpPr txBox="1"/>
          <p:nvPr/>
        </p:nvSpPr>
        <p:spPr>
          <a:xfrm>
            <a:off x="242100" y="5534075"/>
            <a:ext cx="2810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Maintenance Record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g3cccc9c2ef5_0_227" title="drums_maintenance.png"/>
          <p:cNvPicPr preferRelativeResize="0"/>
          <p:nvPr/>
        </p:nvPicPr>
        <p:blipFill rotWithShape="1">
          <a:blip r:embed="rId12">
            <a:alphaModFix/>
          </a:blip>
          <a:srcRect l="10548" r="10556"/>
          <a:stretch/>
        </p:blipFill>
        <p:spPr>
          <a:xfrm>
            <a:off x="358220" y="3980914"/>
            <a:ext cx="2578447" cy="15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cccc9c2ef5_0_227"/>
          <p:cNvSpPr txBox="1"/>
          <p:nvPr/>
        </p:nvSpPr>
        <p:spPr>
          <a:xfrm>
            <a:off x="547975" y="254219"/>
            <a:ext cx="10518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CORE FEATURES</a:t>
            </a:r>
            <a:endParaRPr sz="4400" b="1" i="0" u="none" strike="noStrike" cap="non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Roboto Medium</vt:lpstr>
      <vt:lpstr>Calibri</vt:lpstr>
      <vt:lpstr>Oswald</vt:lpstr>
      <vt:lpstr>Poppins</vt:lpstr>
      <vt:lpstr>Arial</vt:lpstr>
      <vt:lpstr>Poppins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Quyen Nguyen Duy</cp:lastModifiedBy>
  <cp:revision>1</cp:revision>
  <dcterms:modified xsi:type="dcterms:W3CDTF">2026-10-17T09:58:15Z</dcterms:modified>
</cp:coreProperties>
</file>