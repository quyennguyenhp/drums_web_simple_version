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C5E8"/>
                </a:solidFill>
                <a:latin typeface="Aptos"/>
              </a:defRPr>
            </a:pPr>
            <a:r>
              <a:t>DAIKAI ENGINEERING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61288"/>
            <a:ext cx="7040880" cy="1417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Your equipment data.
</a:t>
            </a:r>
            <a:r>
              <a:rPr sz="3000" b="1">
                <a:solidFill>
                  <a:srgbClr val="25C5E8"/>
                </a:solidFill>
                <a:latin typeface="Aptos Display"/>
              </a:rPr>
              <a:t>Clearer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61264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FFFFFF"/>
                </a:solidFill>
                <a:latin typeface="Aptos"/>
              </a:defRPr>
            </a:pPr>
            <a:r>
              <a:t>DRUMS is a customizable platform for industrial data collection, storage, visualization, and intelligent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77056"/>
            <a:ext cx="612648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EAF6FA"/>
                </a:solidFill>
                <a:latin typeface="Aptos"/>
              </a:defRPr>
            </a:pPr>
            <a:r>
              <a:t>Engineered from CPU boards and field panels to server infrastructure, monitoring software, and project-specific local AI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3886200" cy="512064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120640"/>
            <a:ext cx="3474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71A2D"/>
                </a:solidFill>
                <a:latin typeface="Aptos"/>
              </a:defRPr>
            </a:pPr>
            <a:r>
              <a:t>BUILT ON MARINE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15000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FFFFFF"/>
                </a:solidFill>
                <a:latin typeface="Aptos"/>
              </a:defRPr>
            </a:pPr>
            <a:r>
              <a:t>Adaptable to industrial machinery and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6190488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FFFFFF"/>
                </a:solidFill>
                <a:latin typeface="Aptos"/>
              </a:defRPr>
            </a:pPr>
            <a:r>
              <a:t>DRUMS / DATA COLLECTION &amp;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01 /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02A3C"/>
                </a:solidFill>
                <a:latin typeface="Aptos Display"/>
              </a:defRPr>
            </a:pPr>
            <a:r>
              <a:t>One Platform. From Equipment to Insight.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B7180"/>
                </a:solidFill>
                <a:latin typeface="Aptos"/>
              </a:defRPr>
            </a:pPr>
            <a:r>
              <a:t>Collect operating signals, retain history, visualize conditions, interpret data, and notify operators.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1655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16352"/>
            <a:ext cx="165506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00984"/>
            <a:ext cx="1655064" cy="1965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Capture operating data from connected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23317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514600"/>
            <a:ext cx="1655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816352"/>
            <a:ext cx="165506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300984"/>
            <a:ext cx="1655064" cy="1965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Retain historical data for review and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3317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2514600"/>
            <a:ext cx="1655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816352"/>
            <a:ext cx="165506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3300984"/>
            <a:ext cx="1655064" cy="1965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View equipment status and operating trends.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23317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0104" y="2514600"/>
            <a:ext cx="1655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816352"/>
            <a:ext cx="165506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3300984"/>
            <a:ext cx="1655064" cy="1965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Use monitoring rules and equipment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65792" y="2331720"/>
            <a:ext cx="2057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514600"/>
            <a:ext cx="1655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816352"/>
            <a:ext cx="165506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300984"/>
            <a:ext cx="1655064" cy="1965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Deliver alerts through configured channels.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724144"/>
            <a:ext cx="107899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102A3C"/>
                </a:solidFill>
                <a:latin typeface="Aptos"/>
              </a:defRPr>
            </a:pPr>
            <a:r>
              <a:t>Marine installations today · Adaptable to machines, production equipment, utilities, and other industrial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7180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5B71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02 / ENGINEERED BY DAIKAI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From Board Design to Intelligent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9EB2C1"/>
                </a:solidFill>
                <a:latin typeface="Aptos"/>
              </a:defRPr>
            </a:pPr>
            <a:r>
              <a:t>Daikai designs, builds, integrates, and commissions the complete monitoring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23160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CPU Board Design &amp;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09544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PCB design and component assembly tailored to required interfaces and the operating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240280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24912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Field Panel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9544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Panel design, fabrication, wiring, and assembly for reliable field data collection.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240280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423160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724912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 &amp; Server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209544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Data collection, communications, storage, and application servers in one architecture.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41064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23944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2569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Monitoring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910328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Equipment views, dashboards, trends, alarms, and notification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3941064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123944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2569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Local AI &amp; Equipment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10328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Project-specific analysis informed by documentation, limits, and relevant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3941064"/>
            <a:ext cx="3529584" cy="146304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4123944"/>
            <a:ext cx="3127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42569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Integration &amp; Commissioning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4910328"/>
            <a:ext cx="31272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Connection, signal verification, configuration, and commissioning.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9EB2C1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9EB2C1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03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02A3C"/>
                </a:solidFill>
                <a:latin typeface="Aptos Display"/>
              </a:defRPr>
            </a:pPr>
            <a:r>
              <a:t>From Equipment Data to Timely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B7180"/>
                </a:solidFill>
                <a:latin typeface="Aptos"/>
              </a:defRPr>
            </a:pPr>
            <a:r>
              <a:t>Illustrative logical architecture; configuration depends on equipment and project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86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1746504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25C5E8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78608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Machinery &amp;</a:t>
            </a:r>
            <a:br/>
            <a:r>
              <a:t>Control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377440"/>
            <a:ext cx="1655063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25C5E8"/>
                </a:solidFill>
                <a:latin typeface="Aptos"/>
              </a:defRPr>
            </a:pPr>
            <a:r>
              <a:t>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578608"/>
            <a:ext cx="1655063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DRUMS</a:t>
            </a:r>
            <a:br/>
            <a:r>
              <a:t>Field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2860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2377440"/>
            <a:ext cx="1517904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25C5E8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578608"/>
            <a:ext cx="15179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  <a:br/>
            <a: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45059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45059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020824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783080"/>
            <a:ext cx="1965960" cy="694944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>
            <a:solidFill>
              <a:srgbClr val="16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19385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Monitoring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002536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783080"/>
            <a:ext cx="2057400" cy="694944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Dashboards &amp;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026663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788920"/>
            <a:ext cx="1965960" cy="694944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>
            <a:solidFill>
              <a:srgbClr val="16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8" y="294436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Monitoring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008376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788920"/>
            <a:ext cx="2057400" cy="694944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2944368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Alerts &amp; 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032504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794760"/>
            <a:ext cx="1965960" cy="694944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>
            <a:solidFill>
              <a:srgbClr val="16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395020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Local AI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4014216"/>
            <a:ext cx="320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794760"/>
            <a:ext cx="2057400" cy="694944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3950208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Context for Investigation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5074920"/>
            <a:ext cx="196596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5276088"/>
            <a:ext cx="1709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02A3C"/>
                </a:solidFill>
                <a:latin typeface="Aptos"/>
              </a:defRPr>
            </a:pPr>
            <a:r>
              <a:t>Equipment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70916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686C9"/>
                </a:solidFill>
                <a:latin typeface="Aptos"/>
              </a:defRPr>
            </a:pPr>
            <a:r>
              <a:t>↑ informs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897880"/>
            <a:ext cx="4846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B7180"/>
                </a:solidFill>
                <a:latin typeface="Aptos"/>
              </a:defRPr>
            </a:pPr>
            <a:r>
              <a:t>No feedback-control connection is implied.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7180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5B71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04 / CUSTOMIZATION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02A3C"/>
                </a:solidFill>
                <a:latin typeface="Aptos Display"/>
              </a:defRPr>
            </a:pPr>
            <a:r>
              <a:t>Built Around the Equipment You Operate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B7180"/>
                </a:solidFill>
                <a:latin typeface="Aptos"/>
              </a:defRPr>
            </a:pPr>
            <a:r>
              <a:t>Every machine has different signals, operating limits, and maintenance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423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14600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441448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Equipment interfaces and data acquisition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240280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79" y="2423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514600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441448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Panel layout, hardware configuration, and installation arrangements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64408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" y="3447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538728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65576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Data sampling, storage, and communication settings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264408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79" y="3447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38728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3465576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Dashboards, operating trends, and reporting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88536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" y="44714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562856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489704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Alarm thresholds, notification rules, and escalation workflows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288536"/>
            <a:ext cx="51663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79" y="44714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562856"/>
            <a:ext cx="3749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6" y="4489704"/>
            <a:ext cx="41605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02A3C"/>
                </a:solidFill>
                <a:latin typeface="Aptos"/>
              </a:defRPr>
            </a:pPr>
            <a:r>
              <a:t>Project-specific AI knowledge and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59552"/>
            <a:ext cx="10607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The solution starts with your equipment and the information your team needs to operate and maintain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7180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5B71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05 / INTELLIGENT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Equipment Knowledge. More Meaningful Alerts.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9EB2C1"/>
                </a:solidFill>
                <a:latin typeface="Aptos"/>
              </a:defRPr>
            </a:pPr>
            <a:r>
              <a:t>Rules and project-specific AI support different parts of the monitoring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DEFINED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9191"/>
            <a:ext cx="2907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Rule-Based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63824"/>
            <a:ext cx="290779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Defined limits and configured conditions trigger alarms and notifications.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194560"/>
            <a:ext cx="3310128" cy="2240280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377440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5C5E8"/>
                </a:solidFill>
                <a:latin typeface="Aptos"/>
              </a:defRPr>
            </a:pPr>
            <a:r>
              <a:t>PROJECT-SPECIFIC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679191"/>
            <a:ext cx="2907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AI-Assisted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3163824"/>
            <a:ext cx="290779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9EB2C1"/>
                </a:solidFill>
                <a:latin typeface="Aptos"/>
              </a:defRPr>
            </a:pPr>
            <a:r>
              <a:t>Equipment knowledge and operating data provide context for investigating abnormal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194560"/>
            <a:ext cx="373075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468880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686C9"/>
                </a:solidFill>
                <a:latin typeface="Aptos"/>
              </a:defRPr>
            </a:pPr>
            <a:r>
              <a:t>ILLUSTRATIVE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880360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02A3C"/>
                </a:solidFill>
                <a:latin typeface="Aptos"/>
              </a:defRPr>
            </a:pPr>
            <a:r>
              <a:t>Temperature exceeds</a:t>
            </a:r>
            <a:br/>
            <a:r>
              <a:t>configured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419856"/>
            <a:ext cx="320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30752"/>
            <a:ext cx="320040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102A3C"/>
                </a:solidFill>
                <a:latin typeface="Aptos"/>
              </a:defRPr>
            </a:pPr>
            <a:r>
              <a:t>Monitoring rule raises an alarm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4178808"/>
            <a:ext cx="320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686C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07992"/>
            <a:ext cx="32004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5B7180"/>
                </a:solidFill>
                <a:latin typeface="Aptos"/>
              </a:defRPr>
            </a:pPr>
            <a:r>
              <a:t>AI-assisted analysis reviews trends and documentation to support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24144"/>
            <a:ext cx="6675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9EB2C1"/>
                </a:solidFill>
                <a:latin typeface="Aptos"/>
              </a:defRPr>
            </a:pPr>
            <a:r>
              <a:t>AI scope is defined and verified for each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9EB2C1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9EB2C1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06 /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02A3C"/>
                </a:solidFill>
                <a:latin typeface="Aptos Display"/>
              </a:defRPr>
            </a:pPr>
            <a:r>
              <a:t>Marine Experience. Wider Industrial Possibilities.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B7180"/>
                </a:solidFill>
                <a:latin typeface="Aptos"/>
              </a:defRPr>
            </a:pPr>
            <a:r>
              <a:t>Current deployment evidence is kept distinct from potential applications.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48840"/>
            <a:ext cx="4617720" cy="3246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773168"/>
            <a:ext cx="4617720" cy="621792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965192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CURRENT EXPERIENCE  /  MARINE INSTALLATIONS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6128" y="2148840"/>
            <a:ext cx="5925312" cy="3246120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>
            <a:solidFill>
              <a:srgbClr val="B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2468880"/>
            <a:ext cx="5303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686C9"/>
                </a:solidFill>
                <a:latin typeface="Aptos"/>
              </a:defRPr>
            </a:pPr>
            <a:r>
              <a:t>POTENTIAL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26080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C5E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07792"/>
            <a:ext cx="42976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02A3C"/>
                </a:solidFill>
                <a:latin typeface="Aptos"/>
              </a:defRPr>
            </a:pPr>
            <a:r>
              <a:t>Engines &amp; Generators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10712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C5E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392424"/>
            <a:ext cx="42976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02A3C"/>
                </a:solidFill>
                <a:latin typeface="Aptos"/>
              </a:defRPr>
            </a:pPr>
            <a:r>
              <a:t>Pumps &amp; Compressors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95344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C5E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877056"/>
            <a:ext cx="42976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02A3C"/>
                </a:solidFill>
                <a:latin typeface="Aptos"/>
              </a:defRPr>
            </a:pPr>
            <a:r>
              <a:t>Production Machinery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3799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C5E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4361688"/>
            <a:ext cx="42976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02A3C"/>
                </a:solidFill>
                <a:latin typeface="Aptos"/>
              </a:defRPr>
            </a:pPr>
            <a:r>
              <a:t>Utility &amp; Auxiliary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4892040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B7180"/>
                </a:solidFill>
                <a:latin typeface="Aptos"/>
              </a:defRPr>
            </a:pPr>
            <a:r>
              <a:t>Assessed and configured according to equipment interfaces, available signals, and project requirements.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7180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5B718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07 / INSTALLATIONS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02A3C"/>
                </a:solidFill>
                <a:latin typeface="Aptos Display"/>
              </a:defRPr>
            </a:pPr>
            <a:r>
              <a:t>Our Technology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5B7180"/>
                </a:solidFill>
                <a:latin typeface="Aptos"/>
              </a:defRPr>
            </a:pPr>
            <a:r>
              <a:t>Authentic DRUMS hardware, testing, commissioning, and onboard operation.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48840"/>
            <a:ext cx="2496312" cy="2194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343400"/>
            <a:ext cx="2496312" cy="50292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489704"/>
            <a:ext cx="22219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DRUMS CPU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2148840"/>
            <a:ext cx="2496312" cy="2194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19856" y="4343400"/>
            <a:ext cx="2496312" cy="50292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4489704"/>
            <a:ext cx="22219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Quality inspection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148840"/>
            <a:ext cx="2496312" cy="21945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81344" y="4343400"/>
            <a:ext cx="2496312" cy="50292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4489704"/>
            <a:ext cx="22219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Installed in ECR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2148840"/>
            <a:ext cx="2496312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942832" y="4343400"/>
            <a:ext cx="2496312" cy="50292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4489704"/>
            <a:ext cx="22219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Monitoring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75504"/>
            <a:ext cx="4663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686C9"/>
                </a:solidFill>
                <a:latin typeface="Aptos"/>
              </a:defRPr>
            </a:pPr>
            <a:r>
              <a:t>SUPPLY RECORDS  ·  MARCH 2026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13832"/>
            <a:ext cx="621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400" b="1">
                <a:solidFill>
                  <a:srgbClr val="102A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5532120"/>
            <a:ext cx="1600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5B7180"/>
                </a:solidFill>
                <a:latin typeface="Aptos"/>
              </a:defRPr>
            </a:pPr>
            <a:r>
              <a:t>Emarat</a:t>
            </a:r>
            <a:br/>
            <a:r>
              <a:t>vessels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5513832"/>
            <a:ext cx="621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400" b="1">
                <a:solidFill>
                  <a:srgbClr val="102A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8224" y="5532120"/>
            <a:ext cx="1600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5B7180"/>
                </a:solidFill>
                <a:latin typeface="Aptos"/>
              </a:defRPr>
            </a:pPr>
            <a:r>
              <a:t>Jemla</a:t>
            </a:r>
            <a:br/>
            <a:r>
              <a:t>vessel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5513832"/>
            <a:ext cx="621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400" b="1">
                <a:solidFill>
                  <a:srgbClr val="102A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5532120"/>
            <a:ext cx="1600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5B7180"/>
                </a:solidFill>
                <a:latin typeface="Aptos"/>
              </a:defRPr>
            </a:pPr>
            <a:r>
              <a:t>Vitol</a:t>
            </a:r>
            <a:br/>
            <a:r>
              <a:t>vessels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5513832"/>
            <a:ext cx="6217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400" b="1">
                <a:solidFill>
                  <a:srgbClr val="102A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532120"/>
            <a:ext cx="1600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5B7180"/>
                </a:solidFill>
                <a:latin typeface="Aptos"/>
              </a:defRPr>
            </a:pPr>
            <a:r>
              <a:t>Truongminh</a:t>
            </a:r>
            <a:br/>
            <a:r>
              <a:t>vessels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7180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5B71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08 / 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Protection Throughout the Data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640080" cy="36576"/>
          </a:xfrm>
          <a:prstGeom prst="rect">
            <a:avLst/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9EB2C1"/>
                </a:solidFill>
                <a:latin typeface="Aptos"/>
              </a:defRPr>
            </a:pPr>
            <a:r>
              <a:t>Security configuration is defined for each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" y="217627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25856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71A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249424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Secure, encrypted data transmission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2871215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953511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71A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944368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Authentication and role-based access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56616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648456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71A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639312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Vessel-level data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426110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343400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71A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334256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Audit and monitoring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956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38344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71A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5029200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Backup and system protection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176272"/>
            <a:ext cx="2514600" cy="3493008"/>
          </a:xfrm>
          <a:prstGeom prst="roundRect">
            <a:avLst>
              <a:gd name="adj" fmla="val 8000"/>
            </a:avLst>
          </a:prstGeom>
          <a:solidFill>
            <a:srgbClr val="0C2940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2560320"/>
            <a:ext cx="1828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25C5E8"/>
                </a:solidFill>
                <a:latin typeface="Aptos"/>
              </a:defRPr>
            </a:pPr>
            <a:r>
              <a:t>DATA</a:t>
            </a:r>
            <a:br/>
            <a:r>
              <a:t>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447288"/>
            <a:ext cx="1901952" cy="1737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Vessel</a:t>
            </a:r>
            <a:br/>
            <a:r>
              <a:t>↓</a:t>
            </a:r>
            <a:br/>
            <a:r>
              <a:t>Transmission</a:t>
            </a:r>
            <a:br/>
            <a:r>
              <a:t>↓</a:t>
            </a:r>
            <a:br/>
            <a:r>
              <a:t>Central platform</a:t>
            </a:r>
            <a:br/>
            <a:r>
              <a:t>↓</a:t>
            </a:r>
            <a:br/>
            <a:r>
              <a:t>Authorized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5120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9EB2C1"/>
                </a:solidFill>
                <a:latin typeface="Aptos"/>
              </a:defRPr>
            </a:pPr>
            <a:r>
              <a:t>DRUMS  ·  Daikai Engineering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01384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9EB2C1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0"/>
            <a:ext cx="49834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205472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5669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5C5E8"/>
                </a:solidFill>
                <a:latin typeface="Aptos"/>
              </a:defRPr>
            </a:pPr>
            <a:r>
              <a:t>YOUR EQUIPMENT. YOUR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07592"/>
            <a:ext cx="5806440" cy="1920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Let's Build the</a:t>
            </a:r>
            <a:br/>
            <a:r>
              <a:t>Monitoring System</a:t>
            </a:r>
            <a:br/>
            <a:r>
              <a:t>Your Equipment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685032"/>
            <a:ext cx="54406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EAF6FA"/>
                </a:solidFill>
                <a:latin typeface="Aptos"/>
              </a:defRPr>
            </a:pPr>
            <a:r>
              <a:t>Tell us about your machinery, available signals, and monitoring requirements. We can discuss a DRUMS solution tailored to your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501091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25C5E8"/>
          </a:solidFill>
          <a:ln>
            <a:solidFill>
              <a:srgbClr val="25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184648"/>
            <a:ext cx="2423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71A2D"/>
                </a:solidFill>
                <a:latin typeface="Aptos"/>
              </a:defRPr>
            </a:pPr>
            <a:r>
              <a:t>DISCUSS YOUR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5715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9EB2C1"/>
                </a:solidFill>
                <a:latin typeface="Aptos"/>
              </a:defRPr>
            </a:pPr>
            <a:r>
              <a:t>Content exported from the project About page · Editable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